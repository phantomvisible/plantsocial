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B0E"/>
    <a:srgbClr val="1A3D1C"/>
    <a:srgbClr val="81C784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6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A3D1C"/>
            </a:gs>
            <a:gs pos="100000">
              <a:srgbClr val="0D1B0E"/>
            </a:gs>
            <a:gs pos="80000">
              <a:srgbClr val="0D1B0E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形">
            <a:extLst>
              <a:ext uri="{FF2B5EF4-FFF2-40B4-BE49-F238E27FC236}">
                <a16:creationId xmlns:a16="http://schemas.microsoft.com/office/drawing/2014/main" id="{1063BC5E-0601-FB37-F3A3-DA61DC2F4DA7}"/>
              </a:ext>
            </a:extLst>
          </p:cNvPr>
          <p:cNvSpPr txBox="1"/>
          <p:nvPr/>
        </p:nvSpPr>
        <p:spPr>
          <a:xfrm>
            <a:off x="3275647" y="822960"/>
            <a:ext cx="5637530" cy="1070610"/>
          </a:xfrm>
          <a:prstGeom prst="rect">
            <a:avLst/>
          </a:prstGeom>
          <a:noFill/>
        </p:spPr>
        <p:txBody>
          <a:bodyPr wrap="square" rtlCol="0">
            <a:normAutofit fontScale="85000" lnSpcReduction="20000"/>
          </a:bodyPr>
          <a:lstStyle/>
          <a:p>
            <a:pPr algn="dist"/>
            <a:r>
              <a:rPr lang="fr-FR" altLang="fr-FR" sz="9300" dirty="0" err="1">
                <a:gradFill flip="none" rotWithShape="1">
                  <a:gsLst>
                    <a:gs pos="33000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rgbClr val="81C784"/>
                    </a:gs>
                  </a:gsLst>
                  <a:lin ang="0" scaled="1"/>
                  <a:tileRect/>
                </a:gradFill>
                <a:latin typeface="Inter 28pt ExtraBold" panose="02000503000000020004" pitchFamily="2" charset="0"/>
                <a:ea typeface="Inter 28pt ExtraBold" panose="02000503000000020004" pitchFamily="2" charset="0"/>
                <a:cs typeface="字魂36号-正文宋楷" panose="00000500000000000000" charset="-122"/>
              </a:rPr>
              <a:t>PlantSocial</a:t>
            </a:r>
            <a:endParaRPr lang="zh-CN" altLang="en-US" sz="7200" dirty="0">
              <a:gradFill flip="none" rotWithShape="1">
                <a:gsLst>
                  <a:gs pos="33000">
                    <a:schemeClr val="accent3">
                      <a:lumMod val="40000"/>
                      <a:lumOff val="60000"/>
                    </a:schemeClr>
                  </a:gs>
                  <a:gs pos="100000">
                    <a:srgbClr val="81C784"/>
                  </a:gs>
                </a:gsLst>
                <a:lin ang="0" scaled="1"/>
                <a:tileRect/>
              </a:gradFill>
              <a:latin typeface="Inter 28pt ExtraBold" panose="02000503000000020004" pitchFamily="2" charset="0"/>
              <a:ea typeface="字魂59号-创粗黑" panose="00000500000000000000" charset="-122"/>
              <a:cs typeface="字魂36号-正文宋楷" panose="00000500000000000000" charset="-122"/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37361A73-C5D8-4EAA-48C9-A731822E128A}"/>
              </a:ext>
            </a:extLst>
          </p:cNvPr>
          <p:cNvSpPr txBox="1"/>
          <p:nvPr/>
        </p:nvSpPr>
        <p:spPr>
          <a:xfrm>
            <a:off x="3275647" y="1652846"/>
            <a:ext cx="5637530" cy="6540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fr-FR" sz="1600" b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Poppins" panose="00000500000000000000" pitchFamily="2" charset="0"/>
                <a:ea typeface="Inter 18pt" panose="02000503000000020004" pitchFamily="2" charset="0"/>
                <a:cs typeface="Poppins" panose="00000500000000000000" pitchFamily="2" charset="0"/>
              </a:rPr>
              <a:t>Le premier réseau social et marketplace entièrement dédié aux passionnés de plantes</a:t>
            </a: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7308F361-6A5A-C7EA-A3E8-326483856B6B}"/>
              </a:ext>
            </a:extLst>
          </p:cNvPr>
          <p:cNvSpPr txBox="1"/>
          <p:nvPr/>
        </p:nvSpPr>
        <p:spPr>
          <a:xfrm>
            <a:off x="6795023" y="5380990"/>
            <a:ext cx="5637530" cy="6540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fr-FR" sz="1600" b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Poppins" panose="00000500000000000000" pitchFamily="2" charset="0"/>
                <a:ea typeface="Inter 18pt" panose="02000503000000020004" pitchFamily="2" charset="0"/>
                <a:cs typeface="Poppins" panose="00000500000000000000" pitchFamily="2" charset="0"/>
              </a:rPr>
              <a:t>Présenter par :    Amine El Houat</a:t>
            </a:r>
          </a:p>
          <a:p>
            <a:pPr algn="ctr"/>
            <a:r>
              <a:rPr lang="fr-F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Poppins" panose="00000500000000000000" pitchFamily="2" charset="0"/>
                <a:ea typeface="Inter 18pt" panose="02000503000000020004" pitchFamily="2" charset="0"/>
                <a:cs typeface="Poppins" panose="00000500000000000000" pitchFamily="2" charset="0"/>
              </a:rPr>
              <a:t> 			       Yassine Menfaa</a:t>
            </a:r>
          </a:p>
          <a:p>
            <a:pPr algn="ctr"/>
            <a:endParaRPr lang="fr-FR" sz="1600" b="0" dirty="0"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Poppins" panose="00000500000000000000" pitchFamily="2" charset="0"/>
              <a:ea typeface="Inter 18pt" panose="02000503000000020004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rgbClr val="1A3D1C"/>
            </a:gs>
            <a:gs pos="100000">
              <a:srgbClr val="0D1B0E"/>
            </a:gs>
            <a:gs pos="80000">
              <a:srgbClr val="0D1B0E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CA0353-E20A-98B6-EA23-8E19711DA2E7}"/>
              </a:ext>
            </a:extLst>
          </p:cNvPr>
          <p:cNvSpPr/>
          <p:nvPr/>
        </p:nvSpPr>
        <p:spPr>
          <a:xfrm>
            <a:off x="1289554" y="1925156"/>
            <a:ext cx="515488" cy="522208"/>
          </a:xfrm>
          <a:prstGeom prst="rect">
            <a:avLst/>
          </a:prstGeom>
          <a:solidFill>
            <a:srgbClr val="0D1B0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1063BC5E-0601-FB37-F3A3-DA61DC2F4DA7}"/>
              </a:ext>
            </a:extLst>
          </p:cNvPr>
          <p:cNvSpPr txBox="1"/>
          <p:nvPr/>
        </p:nvSpPr>
        <p:spPr>
          <a:xfrm>
            <a:off x="3275647" y="425137"/>
            <a:ext cx="5637530" cy="10706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fr-FR" altLang="fr-FR" sz="4800" dirty="0">
                <a:gradFill flip="none" rotWithShape="1">
                  <a:gsLst>
                    <a:gs pos="30000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rgbClr val="81C784"/>
                    </a:gs>
                  </a:gsLst>
                  <a:lin ang="0" scaled="1"/>
                  <a:tileRect/>
                </a:gradFill>
                <a:latin typeface="Inter 28pt ExtraBold" panose="02000503000000020004" pitchFamily="2" charset="0"/>
                <a:ea typeface="Inter 28pt ExtraBold" panose="02000503000000020004" pitchFamily="2" charset="0"/>
                <a:cs typeface="字魂36号-正文宋楷" panose="00000500000000000000" charset="-122"/>
              </a:rPr>
              <a:t>SOMMAIRE</a:t>
            </a:r>
            <a:endParaRPr lang="zh-CN" altLang="en-US" sz="4800" dirty="0">
              <a:gradFill flip="none" rotWithShape="1">
                <a:gsLst>
                  <a:gs pos="30000">
                    <a:schemeClr val="accent3">
                      <a:lumMod val="40000"/>
                      <a:lumOff val="60000"/>
                    </a:schemeClr>
                  </a:gs>
                  <a:gs pos="100000">
                    <a:srgbClr val="81C784"/>
                  </a:gs>
                </a:gsLst>
                <a:lin ang="0" scaled="1"/>
                <a:tileRect/>
              </a:gradFill>
              <a:latin typeface="Inter 28pt ExtraBold" panose="02000503000000020004" pitchFamily="2" charset="0"/>
              <a:ea typeface="字魂59号-创粗黑" panose="00000500000000000000" charset="-122"/>
              <a:cs typeface="字魂36号-正文宋楷" panose="00000500000000000000" charset="-122"/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37361A73-C5D8-4EAA-48C9-A731822E128A}"/>
              </a:ext>
            </a:extLst>
          </p:cNvPr>
          <p:cNvSpPr txBox="1"/>
          <p:nvPr/>
        </p:nvSpPr>
        <p:spPr>
          <a:xfrm>
            <a:off x="1620047" y="1952573"/>
            <a:ext cx="3122078" cy="6540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fr-FR" sz="2800" b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Poppins" panose="00000500000000000000" pitchFamily="2" charset="0"/>
                <a:ea typeface="Inter 18pt" panose="02000503000000020004" pitchFamily="2" charset="0"/>
                <a:cs typeface="Poppins" panose="00000500000000000000" pitchFamily="2" charset="0"/>
              </a:rPr>
              <a:t>Introduction</a:t>
            </a:r>
            <a:endParaRPr lang="fr-FR" sz="1600" b="0" dirty="0"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Poppins" panose="00000500000000000000" pitchFamily="2" charset="0"/>
              <a:ea typeface="Inter 18pt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8" name="图形">
            <a:extLst>
              <a:ext uri="{FF2B5EF4-FFF2-40B4-BE49-F238E27FC236}">
                <a16:creationId xmlns:a16="http://schemas.microsoft.com/office/drawing/2014/main" id="{76169350-A8F8-3DA6-AB3F-B31D582D90CE}"/>
              </a:ext>
            </a:extLst>
          </p:cNvPr>
          <p:cNvSpPr txBox="1"/>
          <p:nvPr/>
        </p:nvSpPr>
        <p:spPr>
          <a:xfrm>
            <a:off x="1240285" y="2002192"/>
            <a:ext cx="628201" cy="522208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ctr"/>
            <a:r>
              <a:rPr lang="fr-FR" altLang="fr-FR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Lato" charset="0"/>
                <a:ea typeface="Lato"/>
                <a:cs typeface="字魂36号-正文宋楷" panose="00000500000000000000" charset="-122"/>
              </a:rPr>
              <a:t>01</a:t>
            </a:r>
            <a:endParaRPr lang="en-US" altLang="zh-CN" sz="4000" dirty="0">
              <a:solidFill>
                <a:schemeClr val="accent3">
                  <a:lumMod val="20000"/>
                  <a:lumOff val="80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字魂36号-正文宋楷" panose="00000500000000000000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48491A-53F2-600E-42C1-16190D1E4F6B}"/>
              </a:ext>
            </a:extLst>
          </p:cNvPr>
          <p:cNvSpPr/>
          <p:nvPr/>
        </p:nvSpPr>
        <p:spPr>
          <a:xfrm>
            <a:off x="1586734" y="2697567"/>
            <a:ext cx="515488" cy="522208"/>
          </a:xfrm>
          <a:prstGeom prst="rect">
            <a:avLst/>
          </a:prstGeom>
          <a:solidFill>
            <a:srgbClr val="0D1B0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B6944B65-EC9A-F70F-483B-581396AC5116}"/>
              </a:ext>
            </a:extLst>
          </p:cNvPr>
          <p:cNvSpPr txBox="1"/>
          <p:nvPr/>
        </p:nvSpPr>
        <p:spPr>
          <a:xfrm>
            <a:off x="1605344" y="2724986"/>
            <a:ext cx="3122078" cy="6540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fr-FR" sz="2800" b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Poppins" panose="00000500000000000000" pitchFamily="2" charset="0"/>
                <a:ea typeface="Inter 18pt" panose="02000503000000020004" pitchFamily="2" charset="0"/>
                <a:cs typeface="Poppins" panose="00000500000000000000" pitchFamily="2" charset="0"/>
              </a:rPr>
              <a:t>Objectifs</a:t>
            </a:r>
            <a:endParaRPr lang="fr-FR" sz="1600" b="0" dirty="0"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Poppins" panose="00000500000000000000" pitchFamily="2" charset="0"/>
              <a:ea typeface="Inter 18pt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6253CDD7-9109-1873-6A2F-929A33479028}"/>
              </a:ext>
            </a:extLst>
          </p:cNvPr>
          <p:cNvSpPr txBox="1"/>
          <p:nvPr/>
        </p:nvSpPr>
        <p:spPr>
          <a:xfrm>
            <a:off x="1537465" y="2774603"/>
            <a:ext cx="628201" cy="522208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ctr"/>
            <a:r>
              <a:rPr lang="fr-FR" altLang="fr-FR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Lato" charset="0"/>
                <a:ea typeface="Lato"/>
                <a:cs typeface="字魂36号-正文宋楷" panose="00000500000000000000" charset="-122"/>
              </a:rPr>
              <a:t>02</a:t>
            </a:r>
            <a:endParaRPr lang="en-US" altLang="zh-CN" sz="4000" dirty="0">
              <a:solidFill>
                <a:schemeClr val="accent3">
                  <a:lumMod val="20000"/>
                  <a:lumOff val="80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字魂36号-正文宋楷" panose="00000500000000000000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CDBE0B-B6D5-9C6D-5FD9-78EB8B20741C}"/>
              </a:ext>
            </a:extLst>
          </p:cNvPr>
          <p:cNvSpPr/>
          <p:nvPr/>
        </p:nvSpPr>
        <p:spPr>
          <a:xfrm>
            <a:off x="1913144" y="3423192"/>
            <a:ext cx="515488" cy="522208"/>
          </a:xfrm>
          <a:prstGeom prst="rect">
            <a:avLst/>
          </a:prstGeom>
          <a:solidFill>
            <a:srgbClr val="0D1B0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7B55C45E-C0EA-19B8-CCAE-1268B99CF944}"/>
              </a:ext>
            </a:extLst>
          </p:cNvPr>
          <p:cNvSpPr txBox="1"/>
          <p:nvPr/>
        </p:nvSpPr>
        <p:spPr>
          <a:xfrm>
            <a:off x="2498817" y="3521492"/>
            <a:ext cx="3122078" cy="654050"/>
          </a:xfrm>
          <a:prstGeom prst="rect">
            <a:avLst/>
          </a:prstGeom>
          <a:noFill/>
        </p:spPr>
        <p:txBody>
          <a:bodyPr wrap="square" rtlCol="0">
            <a:normAutofit fontScale="77500" lnSpcReduction="20000"/>
          </a:bodyPr>
          <a:lstStyle/>
          <a:p>
            <a:pPr algn="ctr"/>
            <a:r>
              <a:rPr lang="fr-FR" sz="3600" b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Poppins" panose="00000500000000000000" pitchFamily="2" charset="0"/>
                <a:ea typeface="Inter 18pt" panose="02000503000000020004" pitchFamily="2" charset="0"/>
                <a:cs typeface="Poppins" panose="00000500000000000000" pitchFamily="2" charset="0"/>
              </a:rPr>
              <a:t>Fonctionnalités</a:t>
            </a:r>
            <a:endParaRPr lang="fr-FR" sz="1600" b="0" dirty="0"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Poppins" panose="00000500000000000000" pitchFamily="2" charset="0"/>
              <a:ea typeface="Inter 18pt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18" name="图形">
            <a:extLst>
              <a:ext uri="{FF2B5EF4-FFF2-40B4-BE49-F238E27FC236}">
                <a16:creationId xmlns:a16="http://schemas.microsoft.com/office/drawing/2014/main" id="{AB1F0320-9E5F-BC0D-122C-D2A951E92977}"/>
              </a:ext>
            </a:extLst>
          </p:cNvPr>
          <p:cNvSpPr txBox="1"/>
          <p:nvPr/>
        </p:nvSpPr>
        <p:spPr>
          <a:xfrm>
            <a:off x="1863875" y="3500228"/>
            <a:ext cx="628201" cy="522208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ctr"/>
            <a:r>
              <a:rPr lang="fr-FR" altLang="fr-FR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Lato" charset="0"/>
                <a:ea typeface="Lato"/>
                <a:cs typeface="字魂36号-正文宋楷" panose="00000500000000000000" charset="-122"/>
              </a:rPr>
              <a:t>03</a:t>
            </a:r>
            <a:endParaRPr lang="en-US" altLang="zh-CN" sz="4000" dirty="0">
              <a:solidFill>
                <a:schemeClr val="accent3">
                  <a:lumMod val="20000"/>
                  <a:lumOff val="80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字魂36号-正文宋楷" panose="00000500000000000000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DED564-B583-45E7-5AAE-73CC89C20530}"/>
              </a:ext>
            </a:extLst>
          </p:cNvPr>
          <p:cNvSpPr/>
          <p:nvPr/>
        </p:nvSpPr>
        <p:spPr>
          <a:xfrm>
            <a:off x="1586734" y="4172470"/>
            <a:ext cx="515488" cy="522208"/>
          </a:xfrm>
          <a:prstGeom prst="rect">
            <a:avLst/>
          </a:prstGeom>
          <a:solidFill>
            <a:srgbClr val="0D1B0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B6C002ED-9075-709A-4599-0ECB1228E1EC}"/>
              </a:ext>
            </a:extLst>
          </p:cNvPr>
          <p:cNvSpPr txBox="1"/>
          <p:nvPr/>
        </p:nvSpPr>
        <p:spPr>
          <a:xfrm>
            <a:off x="2158231" y="4277858"/>
            <a:ext cx="3122078" cy="654050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ctr"/>
            <a:r>
              <a:rPr lang="fr-FR" sz="3600" b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Poppins" panose="00000500000000000000" pitchFamily="2" charset="0"/>
                <a:ea typeface="Inter 18pt" panose="02000503000000020004" pitchFamily="2" charset="0"/>
                <a:cs typeface="Poppins" panose="00000500000000000000" pitchFamily="2" charset="0"/>
              </a:rPr>
              <a:t>Business &amp; Avenir</a:t>
            </a:r>
            <a:endParaRPr lang="fr-FR" sz="1600" b="0" dirty="0"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Poppins" panose="00000500000000000000" pitchFamily="2" charset="0"/>
              <a:ea typeface="Inter 18pt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21" name="图形">
            <a:extLst>
              <a:ext uri="{FF2B5EF4-FFF2-40B4-BE49-F238E27FC236}">
                <a16:creationId xmlns:a16="http://schemas.microsoft.com/office/drawing/2014/main" id="{56C740EA-3F1B-A1EB-A89D-2A324BF1F6AE}"/>
              </a:ext>
            </a:extLst>
          </p:cNvPr>
          <p:cNvSpPr txBox="1"/>
          <p:nvPr/>
        </p:nvSpPr>
        <p:spPr>
          <a:xfrm>
            <a:off x="1537465" y="4249506"/>
            <a:ext cx="628201" cy="522208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ctr"/>
            <a:r>
              <a:rPr lang="fr-FR" altLang="fr-FR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Lato" charset="0"/>
                <a:ea typeface="Lato"/>
                <a:cs typeface="字魂36号-正文宋楷" panose="00000500000000000000" charset="-122"/>
              </a:rPr>
              <a:t>04</a:t>
            </a:r>
            <a:endParaRPr lang="en-US" altLang="zh-CN" sz="4000" dirty="0">
              <a:solidFill>
                <a:schemeClr val="accent3">
                  <a:lumMod val="20000"/>
                  <a:lumOff val="80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字魂36号-正文宋楷" panose="00000500000000000000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620920-7A60-BC66-2200-64EA6E1D27B0}"/>
              </a:ext>
            </a:extLst>
          </p:cNvPr>
          <p:cNvSpPr/>
          <p:nvPr/>
        </p:nvSpPr>
        <p:spPr>
          <a:xfrm>
            <a:off x="1303201" y="4885756"/>
            <a:ext cx="515488" cy="522208"/>
          </a:xfrm>
          <a:prstGeom prst="rect">
            <a:avLst/>
          </a:prstGeom>
          <a:solidFill>
            <a:srgbClr val="0D1B0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图形">
            <a:extLst>
              <a:ext uri="{FF2B5EF4-FFF2-40B4-BE49-F238E27FC236}">
                <a16:creationId xmlns:a16="http://schemas.microsoft.com/office/drawing/2014/main" id="{71F4A880-1982-8DFF-7F00-7A6ADC1AFF2B}"/>
              </a:ext>
            </a:extLst>
          </p:cNvPr>
          <p:cNvSpPr txBox="1"/>
          <p:nvPr/>
        </p:nvSpPr>
        <p:spPr>
          <a:xfrm>
            <a:off x="1406871" y="4891909"/>
            <a:ext cx="3122078" cy="6540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fr-FR" sz="2800" b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Poppins" panose="00000500000000000000" pitchFamily="2" charset="0"/>
                <a:ea typeface="Inter 18pt" panose="02000503000000020004" pitchFamily="2" charset="0"/>
                <a:cs typeface="Poppins" panose="00000500000000000000" pitchFamily="2" charset="0"/>
              </a:rPr>
              <a:t>Démo Live</a:t>
            </a:r>
            <a:endParaRPr lang="fr-FR" sz="1400" b="0" dirty="0"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Poppins" panose="00000500000000000000" pitchFamily="2" charset="0"/>
              <a:ea typeface="Inter 18pt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012F2FAE-6D6B-1A4E-A853-1D188128E2C8}"/>
              </a:ext>
            </a:extLst>
          </p:cNvPr>
          <p:cNvSpPr txBox="1"/>
          <p:nvPr/>
        </p:nvSpPr>
        <p:spPr>
          <a:xfrm>
            <a:off x="1253932" y="4962792"/>
            <a:ext cx="628201" cy="522208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ctr"/>
            <a:r>
              <a:rPr lang="fr-FR" altLang="fr-FR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Lato" charset="0"/>
                <a:ea typeface="Lato"/>
                <a:cs typeface="字魂36号-正文宋楷" panose="00000500000000000000" charset="-122"/>
              </a:rPr>
              <a:t>05</a:t>
            </a:r>
            <a:endParaRPr lang="en-US" altLang="zh-CN" sz="4000" dirty="0">
              <a:solidFill>
                <a:schemeClr val="accent3">
                  <a:lumMod val="20000"/>
                  <a:lumOff val="80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字魂36号-正文宋楷" panose="0000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023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74320"/>
            <a:ext cx="201168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02352" y="29260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53896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27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2704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01 —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19656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Contexte, problématique et opportunité de marché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53896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1527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2704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02 — Objectifs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819656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Ce que nous voulions accomplir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41732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19" y="1453896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7" y="1527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52704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03 —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1819656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Stack technique et choix d'architecture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2798064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2871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87121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04 — Fonctionnalités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163824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Chat, Notifications, Marketplace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76148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2798064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53128" y="2871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87121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05 — My Garden &amp; 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163824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Identification de plante via Pl@ntNet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19" y="276148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19" y="2798064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56447" y="2871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87121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06 — Doctor Plant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7" y="3163824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Diagnostic santé de la plante par 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105656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142232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42153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215384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07 — Section News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507992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Actualités plantes intégrées dans l'app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4105656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43400" y="4142232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53128" y="42153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215384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08 — Démo Live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4507992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Démonstration complète de l'application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19" y="4105656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46719" y="4142232"/>
            <a:ext cx="3566160" cy="11978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56447" y="42153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4215384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09 — Business &amp; Avenir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7" y="4507992"/>
            <a:ext cx="3346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Modèle économique et perspectives futures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97680" y="274320"/>
            <a:ext cx="329184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70832" y="29260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01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Le problème à résoudre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114300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813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Communauté dispersée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01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8C"/>
                </a:solidFill>
              </a:rPr>
              <a:t>Les passionnés s'éparpillent entre Facebook, Instagram, Forums sans cohérence ni plateforme dédiée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10972800" cy="114300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072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Achat/Vente non spécialisé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1272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8C"/>
                </a:solidFill>
              </a:rPr>
              <a:t>Leboncoin et Facebook Marketplace ne sont pas adaptés à la vente de plantes rares &amp; collections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23360"/>
            <a:ext cx="10972800" cy="114300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330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Absence de confiance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4531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8C"/>
                </a:solidFill>
              </a:rPr>
              <a:t>Impossible de vérifier l'expertise d'un vendeur — risque fort pour les plantes rares à haute valeur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0" y="274320"/>
            <a:ext cx="265176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28032" y="29260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02 —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Nos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08176"/>
            <a:ext cx="5486400" cy="197510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8132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Créer une communauté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73936"/>
            <a:ext cx="5266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Un réseau social dédié pour partager, apprendre et s'inspirer autour des plantes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4864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08176"/>
            <a:ext cx="5486400" cy="197510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481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🛍️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48132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Marketplace de confiance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773936"/>
            <a:ext cx="5266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Un espace d'achat/vente sécurisé, rattaché aux profils sociaux des vendeurs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54864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602736"/>
            <a:ext cx="5486400" cy="197510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675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7588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Instantanéité totale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968496"/>
            <a:ext cx="5266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Chat et notifications en temps réel pour des interactions naturelles et engageantes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566160"/>
            <a:ext cx="54864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602736"/>
            <a:ext cx="5486400" cy="197510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3675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67588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UX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968496"/>
            <a:ext cx="5266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Interface élégante, responsive, avec mode sombre/clair pour tous les appareils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0" y="274320"/>
            <a:ext cx="457200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30752" y="292608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03 — 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B8C"/>
                </a:solidFill>
              </a:rPr>
              <a:t>Architecture Monolithique Modulaire — robuste, maintenable, scalable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1737360" cy="8229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883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B8C"/>
                </a:solidFill>
              </a:rPr>
              <a:t>Spring Boot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1737360"/>
            <a:ext cx="1737360" cy="8229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792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1883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B8C"/>
                </a:solidFill>
              </a:rPr>
              <a:t>Angular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1144" y="1737360"/>
            <a:ext cx="1737360" cy="8229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1792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1883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B8C"/>
                </a:solidFill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3096" y="1737360"/>
            <a:ext cx="1737360" cy="8229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65976" y="1792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1883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B8C"/>
                </a:solidFill>
              </a:rPr>
              <a:t>JWT 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5048" y="1737360"/>
            <a:ext cx="1737360" cy="8229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67928" y="1792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883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B8C"/>
                </a:solidFill>
              </a:rPr>
              <a:t>WebSockets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1737360"/>
            <a:ext cx="1737360" cy="8229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69880" y="1792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1883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B8C"/>
                </a:solidFill>
              </a:rPr>
              <a:t>Docker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2880360"/>
            <a:ext cx="1417320" cy="59436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61872" y="29352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CAF50"/>
                </a:solidFill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1272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Angular SPA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4328" y="29992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880360"/>
            <a:ext cx="1417320" cy="59436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9432" y="29352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CAF50"/>
                </a:solidFill>
              </a:rPr>
              <a:t>API REST + 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31272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29992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880360"/>
            <a:ext cx="1417320" cy="59436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36992" y="29352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CAF50"/>
                </a:solidFill>
              </a:rPr>
              <a:t>BASE DE DONNÉES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31272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0" y="274320"/>
            <a:ext cx="420624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13632" y="29260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03 — ARCHITECTURE :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Backend —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B8C"/>
                </a:solidFill>
              </a:rPr>
              <a:t>Architecture en couches claire et totalement modulaire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Sécurité —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Authentification stateless via JSON Web Tokens. Chaque requête est vérifiée par Spring Security.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REST 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Endpoints par domaine : /auth, /users, /marketplace, /chat, /feed, /plants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7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7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Logique métier isolée dans des Services Spring. Chaque fonctionnalité a son propre service.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JPA / 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Accès à PostgreSQL via Spring Data JPA. Requêtes @Query pour les cas complexes.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53128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WebSocket — STOMP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Protocole STOMP gère les abonnements et la diffusion de messages en temps réel.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19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19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56447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APIs Externes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7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Intégration Pl@ntNet API + NewsAPI via RestTemplate / WebClient.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0" y="274320"/>
            <a:ext cx="420624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13632" y="29260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03 — ARCHITECTURE :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Frontend — Angular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B8C"/>
                </a:solidFill>
              </a:rPr>
              <a:t>Application Angular organisée en Feature Modules, totalement lazy-loaded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Chaque fonctionnalité (Auth, Feed, Marketplace, Chat, Profile) est un module Angular isolé.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Services &amp; Observables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APIs REST via HttpClient. Données async gérées avec RxJS Observables et async pipe.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7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Guards &amp; Interceptors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7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Route Guards protègent les pages privées. HttpInterceptor injecte le JWT automatiquement.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SCSS &amp; Theme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Variables CSS dynamiques (--text-color, --surface-card) pour mode clair/sombre.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53128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WebSocket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Connexion STOMP/SockJS côté client. Gestion de la connexion et abonnements aux topics.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19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19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56447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PrimeNG UI Library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7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Composants UI de PrimeNG personnalisés avec SCSS pour une apparence professionnelle.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4720" y="274320"/>
            <a:ext cx="502920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7872" y="29260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04 — MA CONTRIBUTION : TEMPS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Chat &amp; Notifications en temps réel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30352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53896"/>
            <a:ext cx="5303520" cy="18836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27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2704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Real-Time Chat (WebSockets)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19656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Tunnel de communication bidirectionnel et permanent. Aucune latence, aucun rechargement. Messages livrés en moins d'une milliseconde.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530352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511296"/>
            <a:ext cx="5303520" cy="18836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584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8444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Notifications 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77056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Alertes instantanées pour les messages reçus, commentaires, likes et interactions sur les annonces.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36576" cy="39776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0216" y="1417320"/>
            <a:ext cx="5266944" cy="3977639"/>
          </a:xfrm>
          <a:prstGeom prst="rect">
            <a:avLst/>
          </a:prstGeom>
          <a:solidFill>
            <a:srgbClr val="1A2E1B"/>
          </a:solidFill>
          <a:ln w="6350">
            <a:solidFill>
              <a:srgbClr val="2A4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1508760"/>
            <a:ext cx="502920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1C784"/>
                </a:solidFill>
              </a:rPr>
              <a:t>🔌 HTTP classique : le client demande → le serveur répond.
⚡ WebSocket : connexion toujours ouverte. Le serveur pousse les mises à jour instantanément. C'est ce qui donne vie au chat en temps réel.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4720" y="274320"/>
            <a:ext cx="502920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7872" y="29260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04 — MA CONTRIBUTION :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La Marketplace intégrée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813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Création d'annonces avancées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105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8C"/>
                </a:solidFill>
              </a:rPr>
              <a:t>Galerie photos multiple, détection automatique du titre/prix via URL, gestion des statuts (Actif, Expiré, Brouillon)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10972800" cy="12801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443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Confiance par le profil 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7355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8C"/>
                </a:solidFill>
              </a:rPr>
              <a:t>Chaque annonce est liée au profil public du vendeur — ses posts, ses plantes, sa réputation dans la communauté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97680"/>
            <a:ext cx="10972800" cy="1280160"/>
          </a:xfrm>
          <a:prstGeom prst="rect">
            <a:avLst/>
          </a:prstGeom>
          <a:solidFill>
            <a:srgbClr val="0D1B0E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07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Simulation de paiement réaliste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73659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8C"/>
                </a:solidFill>
              </a:rPr>
              <a:t>Animation de paiement séquentielle (insertion de carte → scan → succès) pour une expérience premium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49039" y="274320"/>
            <a:ext cx="457200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22191" y="292608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04 — FONCTIONNALITÉS GLOBALES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Ce que PlantSocial offre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Profils Utilisateurs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Collection de plantes, posts, historique et réputation publique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Fil d'Actualité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Posts, commentaires, likes et partages en temps réel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55448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19" y="159105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7" y="16642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664207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 Sombre / Clair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1956816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Interface entièrement adaptée aux deux modes pour le confort visuel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Authentification sécurisée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JWT, validation stricte des mots de passe, autorisation par rôle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53128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100% Responsive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Design optimisé mobile, tablette et desktop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19" y="308152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19" y="311810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56447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🖼️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19125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Galerie Photos Shopify-style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7" y="348386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Thumbnails latéraux, image principale grande, navigation fluide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4720" y="274320"/>
            <a:ext cx="502920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7872" y="29260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05 — INTÉGRATION IA : MY GARDEN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Mon Jardin — Pl@ntNet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B8C"/>
                </a:solidFill>
              </a:rPr>
              <a:t>Identification automatique de plantes grâce à l'Intelligence Artificielle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417320" cy="59436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CAF50"/>
                </a:solidFill>
              </a:rPr>
              <a:t>ÉTAPE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📸
Upload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828800"/>
            <a:ext cx="1417320" cy="59436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188366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CAF50"/>
                </a:solidFill>
              </a:rPr>
              <a:t>ÉTAPE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756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🌐
Pl@ntNet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828800"/>
            <a:ext cx="1417320" cy="59436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188366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CAF50"/>
                </a:solidFill>
              </a:rPr>
              <a:t>ÉTAPE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0756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🌿
Nom Identifié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828800"/>
            <a:ext cx="1417320" cy="59436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3056" y="188366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CAF50"/>
                </a:solidFill>
              </a:rPr>
              <a:t>ÉTAPE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0756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💾
Sauvegarde BDD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34640"/>
            <a:ext cx="54864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2871216"/>
            <a:ext cx="5486400" cy="18836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2944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94436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Collection Personnelle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236976"/>
            <a:ext cx="52669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L'utilisateur peut photographier n'importe quelle plante. L'IA retourne son nom scientifique et commun instantanément, puis l'ajoute à son jardin virtuel.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834640"/>
            <a:ext cx="54864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2871216"/>
            <a:ext cx="5486400" cy="188366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2944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4436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API Pl@ntNet Intégrée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236976"/>
            <a:ext cx="52669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Pl@ntNet est une IA botanique capable d'identifier +300 000 espèces de plantes. Connectée directement à notre backend Spring Boot.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83280" y="274320"/>
            <a:ext cx="521208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56432" y="29260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06 — INTÉGRATION IA : DOCTOR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Doctor Plant — Diagnostic par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B8C"/>
                </a:solidFill>
              </a:rPr>
              <a:t>Votre plante est malade ? L'IA la diagnostique avant même un expert !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0352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28216"/>
            <a:ext cx="5303520" cy="16093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0136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Upload d'une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93976"/>
            <a:ext cx="50840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L'utilisateur prend en photo les feuilles, la tige, ou les racines de sa plante souffrante et l'uploade dans l'application.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530352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511296"/>
            <a:ext cx="5303520" cy="16093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584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8444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Analyse par l'IA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77056"/>
            <a:ext cx="50840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L'IA analyse l'image et identifie les symptômes visuels : jaunissement, pourriture, parasites, manque d'eau ou de lumière.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30352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28216"/>
            <a:ext cx="5303520" cy="16093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1801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0136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Rapport de Santé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093976"/>
            <a:ext cx="50840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L'application retourne un rapport détaillé : diagnostic du problème, niveau de gravité, et recommandations de traitement.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474720"/>
            <a:ext cx="36576" cy="1645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0216" y="3474720"/>
            <a:ext cx="5266944" cy="1645920"/>
          </a:xfrm>
          <a:prstGeom prst="rect">
            <a:avLst/>
          </a:prstGeom>
          <a:solidFill>
            <a:srgbClr val="1A2E1B"/>
          </a:solidFill>
          <a:ln w="6350">
            <a:solidFill>
              <a:srgbClr val="2A4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1" y="35661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1C784"/>
                </a:solidFill>
              </a:rPr>
              <a:t>💡 Valeur ajoutée clé : Un diagnostic instantané qui transforme chaque utilisateur en expert botanique — une fonctionnalité impossible à trouver sur une plateforme généraliste.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63440" y="274320"/>
            <a:ext cx="283464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36592" y="29260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07 — SECTION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Actualités Plantes intégrées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B8C"/>
                </a:solidFill>
              </a:rPr>
              <a:t>Restez informés des dernières tendances botaniques sans quitter PlantSocial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28216"/>
            <a:ext cx="3566160" cy="179222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0136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News API intégrée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93976"/>
            <a:ext cx="33467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Nous consommons une API d'actualités externe pour agréger les dernières nouvelles du monde botanique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69164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728216"/>
            <a:ext cx="3566160" cy="179222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801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80136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Contenu Ciblé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093976"/>
            <a:ext cx="33467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Articles filtrés : conseils d'entretien, nouvelles espèces, tendances jardinage, événements horticoles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69164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74736" y="1728216"/>
            <a:ext cx="3566160" cy="179222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3" y="1801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96" y="180136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Engagement Renforcé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093976"/>
            <a:ext cx="33467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Garder l'utilisateur actif même sans interactions sociales — toujours quelque chose de nouveau à découvrir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03320"/>
            <a:ext cx="36576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6656" y="3703320"/>
            <a:ext cx="10936224" cy="914400"/>
          </a:xfrm>
          <a:prstGeom prst="rect">
            <a:avLst/>
          </a:prstGeom>
          <a:solidFill>
            <a:srgbClr val="1A2E1B"/>
          </a:solidFill>
          <a:ln w="6350">
            <a:solidFill>
              <a:srgbClr val="2A4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" y="379475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1C784"/>
                </a:solidFill>
              </a:rPr>
              <a:t>📰 La section News transforme PlantSocial en hub d'information botanique — pas seulement un réseau social mais une source de connaissance vivante sur les plantes.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97680" y="274320"/>
            <a:ext cx="347472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70832" y="292608"/>
            <a:ext cx="3383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09 — BUSINESS &amp; AVENIR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Modèle Économique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4533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18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1848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Réseau Social Gratuit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11095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Acquisition massive d'utilisateurs grâce à la gratuité totale de la plateforme sociale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0876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4533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1618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1848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Listing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11095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Frais de mise en ligne proportionnels à la durée d'exposition sur la Marketplace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508760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19" y="1545336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7" y="1618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61848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Abonnement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1911095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Compte Pro pour pépinières et marchands avec outils avancés et visibilité boostée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3580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07238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145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14553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My Garden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43814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Identification illimitée de plantes &amp; accès complet Pl@ntNet en abonnement mensuel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03580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307238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53128" y="3145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14553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Doctor Plant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43814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Diagnostics illimités + suivi médical de la collection pour les utilisateurs les plus investis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19" y="3035808"/>
            <a:ext cx="356616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19" y="3072384"/>
            <a:ext cx="3566160" cy="1380744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56447" y="3145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145536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Publicité Ciblée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7" y="3438144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8C"/>
                </a:solidFill>
              </a:rPr>
              <a:t>Audience 100% qualifiée = publicités ultra-pertinentes pour engrais, pots, lampes UV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480560" y="365760"/>
            <a:ext cx="320040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53712" y="38404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DÉMONSTRATION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Démonstration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08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B8C"/>
                </a:solidFill>
              </a:rPr>
              <a:t>Parcours utilisateur complet — de l'inscription au diagnostic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69164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1691640" cy="731520"/>
          </a:xfrm>
          <a:prstGeom prst="rect">
            <a:avLst/>
          </a:prstGeom>
          <a:noFill/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2860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1C784"/>
                </a:solidFill>
              </a:rPr>
              <a:t>ÉTAPE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871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📋 Inscription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2423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240280"/>
            <a:ext cx="169164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23160" y="2240280"/>
            <a:ext cx="1691640" cy="731520"/>
          </a:xfrm>
          <a:prstGeom prst="rect">
            <a:avLst/>
          </a:prstGeom>
          <a:noFill/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96312" y="22860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1C784"/>
                </a:solidFill>
              </a:rPr>
              <a:t>ÉTAPE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4871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📰 Feed &amp; Profil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423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240280"/>
            <a:ext cx="169164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240280"/>
            <a:ext cx="1691640" cy="731520"/>
          </a:xfrm>
          <a:prstGeom prst="rect">
            <a:avLst/>
          </a:prstGeom>
          <a:noFill/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22860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1C784"/>
                </a:solidFill>
              </a:rPr>
              <a:t>ÉTAPE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4871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💬 Chat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2423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240280"/>
            <a:ext cx="169164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240280"/>
            <a:ext cx="1691640" cy="731520"/>
          </a:xfrm>
          <a:prstGeom prst="rect">
            <a:avLst/>
          </a:prstGeom>
          <a:noFill/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2860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1C784"/>
                </a:solidFill>
              </a:rPr>
              <a:t>ÉTAPE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4871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🛒 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2423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240280"/>
            <a:ext cx="169164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1040" y="2240280"/>
            <a:ext cx="1691640" cy="731520"/>
          </a:xfrm>
          <a:prstGeom prst="rect">
            <a:avLst/>
          </a:prstGeom>
          <a:noFill/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22860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1C784"/>
                </a:solidFill>
              </a:rPr>
              <a:t>ÉTAPE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4871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🪴 My Garden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7" y="2423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86999" y="2240280"/>
            <a:ext cx="169164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86999" y="2240280"/>
            <a:ext cx="1691640" cy="731520"/>
          </a:xfrm>
          <a:prstGeom prst="rect">
            <a:avLst/>
          </a:prstGeom>
          <a:noFill/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60151" y="22860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1C784"/>
                </a:solidFill>
              </a:rPr>
              <a:t>ÉTAPE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0151" y="24871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🩺 Doctor Plant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0"/>
            <a:ext cx="2743200" cy="2743200"/>
          </a:xfrm>
          <a:prstGeom prst="rect">
            <a:avLst/>
          </a:prstGeom>
          <a:solidFill>
            <a:srgbClr val="18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"/>
            <a:ext cx="2011680" cy="256032"/>
          </a:xfrm>
          <a:prstGeom prst="rect">
            <a:avLst/>
          </a:prstGeom>
          <a:solidFill>
            <a:srgbClr val="1A3D1C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02352" y="29260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CAF50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PlantSocial — Une vision réelle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560320" cy="137160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AF50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B8C"/>
                </a:solidFill>
              </a:rPr>
              <a:t>DÉVELOPPEURS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600200"/>
            <a:ext cx="2560320" cy="137160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719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AF50"/>
                </a:solidFill>
              </a:rPr>
              <a:t>6+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95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B8C"/>
                </a:solidFill>
              </a:rPr>
              <a:t>MODULES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00200"/>
            <a:ext cx="2560320" cy="137160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719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AF50"/>
                </a:solidFill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95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B8C"/>
                </a:solidFill>
              </a:rPr>
              <a:t>TEMPS RÉEL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600200"/>
            <a:ext cx="2560320" cy="1371600"/>
          </a:xfrm>
          <a:prstGeom prst="rect">
            <a:avLst/>
          </a:prstGeom>
          <a:solidFill>
            <a:srgbClr val="162518"/>
          </a:solidFill>
          <a:ln w="6350">
            <a:solidFill>
              <a:srgbClr val="2A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40" y="1719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AF50"/>
                </a:solidFill>
              </a:rPr>
              <a:t>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395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B8C"/>
                </a:solidFill>
              </a:rPr>
              <a:t>PASSION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46120"/>
            <a:ext cx="36576" cy="1463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9536" y="3246120"/>
            <a:ext cx="10570464" cy="1463040"/>
          </a:xfrm>
          <a:prstGeom prst="rect">
            <a:avLst/>
          </a:prstGeom>
          <a:solidFill>
            <a:srgbClr val="1A2E1B"/>
          </a:solidFill>
          <a:ln w="6350">
            <a:solidFill>
              <a:srgbClr val="2A4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337560"/>
            <a:ext cx="10332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1C784"/>
                </a:solidFill>
              </a:rPr>
              <a:t>🙏 Nous vous remercions chaleureusement pour votre attention.
PlantSocial est né d'un vrai problème, construit sur de vraies technologies, et vise un vrai marché en croissance.
Nous sommes à présent disponibles pour vos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1394</Words>
  <Application>Microsoft Office PowerPoint</Application>
  <PresentationFormat>Custom</PresentationFormat>
  <Paragraphs>271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字魂59号-创粗黑</vt:lpstr>
      <vt:lpstr>Arial</vt:lpstr>
      <vt:lpstr>Calibri</vt:lpstr>
      <vt:lpstr>Inter 28pt ExtraBold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Yassine Menfaa</cp:lastModifiedBy>
  <cp:revision>2</cp:revision>
  <dcterms:created xsi:type="dcterms:W3CDTF">2013-01-27T09:14:16Z</dcterms:created>
  <dcterms:modified xsi:type="dcterms:W3CDTF">2026-03-03T14:27:28Z</dcterms:modified>
  <cp:category/>
</cp:coreProperties>
</file>